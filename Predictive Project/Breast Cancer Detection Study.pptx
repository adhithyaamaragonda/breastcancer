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Lato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48CA5-5386-4540-AFC3-70BB1A502684}">
  <a:tblStyle styleId="{E2748CA5-5386-4540-AFC3-70BB1A5026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LatoLight-bold.fntdata"/><Relationship Id="rId10" Type="http://schemas.openxmlformats.org/officeDocument/2006/relationships/slide" Target="slides/slide4.xml"/><Relationship Id="rId32" Type="http://schemas.openxmlformats.org/officeDocument/2006/relationships/font" Target="fonts/LatoLight-regular.fntdata"/><Relationship Id="rId13" Type="http://schemas.openxmlformats.org/officeDocument/2006/relationships/slide" Target="slides/slide7.xml"/><Relationship Id="rId35" Type="http://schemas.openxmlformats.org/officeDocument/2006/relationships/font" Target="fonts/Lato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La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221459d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a221459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a221459d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a221459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a221459d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a221459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43.png"/><Relationship Id="rId7" Type="http://schemas.openxmlformats.org/officeDocument/2006/relationships/image" Target="../media/image4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050" y="105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 rot="-114">
            <a:off x="1567735" y="1064379"/>
            <a:ext cx="90264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Breast Cancer </a:t>
            </a:r>
            <a:r>
              <a:rPr b="1" i="0" lang="en-US" sz="510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Detection</a:t>
            </a:r>
            <a:r>
              <a:rPr b="1" i="0" lang="en-US" sz="510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 Using Machine Learning Algorithms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24911"/>
            <a:ext cx="857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EA5E9"/>
                </a:solidFill>
                <a:latin typeface="Lato Light"/>
                <a:ea typeface="Lato Light"/>
                <a:cs typeface="Lato Light"/>
                <a:sym typeface="Lato Light"/>
              </a:rPr>
              <a:t>A Standardized Comparative Study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388048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826198"/>
            <a:ext cx="857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C4A6E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r>
              <a:rPr lang="en-US" sz="1950">
                <a:solidFill>
                  <a:srgbClr val="0C4A6E"/>
                </a:solidFill>
                <a:latin typeface="Lato"/>
                <a:ea typeface="Lato"/>
                <a:cs typeface="Lato"/>
                <a:sym typeface="Lato"/>
              </a:rPr>
              <a:t> Amaragonda Adhithya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5340548"/>
            <a:ext cx="857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Course: </a:t>
            </a:r>
            <a:r>
              <a:rPr lang="en-US" sz="13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Comprehensive Seminar</a:t>
            </a: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| 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3669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Breast cancer is a leading cause of cancer-related mortality worldwide.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detection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paramount, significantly increasing survival rates and treatment success.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670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Machine Learning (ML) acts as a powerful diagnostic aid, identifying malignant tumor patterns with high precision and consistency.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3672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Predictive analytics enables medical professionals to leverage computational power for faster, more accurate clinical decision-making.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243137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43137"/>
            <a:ext cx="35559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00538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C4A6E"/>
                </a:solidFill>
                <a:latin typeface="Lato"/>
                <a:ea typeface="Lato"/>
                <a:cs typeface="Lato"/>
                <a:sym typeface="Lato"/>
              </a:rPr>
              <a:t>A unified and statistically validated comparative framework is required.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2576512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Fragmented Scope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052762"/>
            <a:ext cx="2984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existing studies only compare 2–3 algorithms, leading to an incomplete understanding of model performance.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03700" y="2576512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Metric Bias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03700" y="3052762"/>
            <a:ext cx="2984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Research often focuses solely on accuracy, ignoring critical clinical factors like False Negative rates.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50150" y="2576512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Lack of Standard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50150" y="3052762"/>
            <a:ext cx="2984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Inconsistent preprocessing and limited validation hinder the reproducibility of diagnostic frameworks.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241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26241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6241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7"/>
          <p:cNvGraphicFramePr/>
          <p:nvPr/>
        </p:nvGraphicFramePr>
        <p:xfrm>
          <a:off x="571500" y="242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{E2748CA5-5386-4540-AFC3-70BB1A502684}</a:tableStyleId>
              </a:tblPr>
              <a:tblGrid>
                <a:gridCol w="4972050"/>
                <a:gridCol w="6076950"/>
              </a:tblGrid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Selected Research Papers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Limitations Identified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Breast Cancer Detection: ML Algorithms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Limited algorithms; No statistical validation; Basic preprocessing.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Comparing Prediction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standardized framework; Limited cross-validation; No medical context.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BC Prediction Using Decision Trees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Only single classifier focus; Lack of multi-metric evaluation.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ML Models (Elsevier Procedia CS, 2021)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unified preprocessing; Lack of reproducibility framework.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Analysis of Different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Accuracy-centered; No significance testing; Limited interpretability.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7"/>
          <p:cNvSpPr/>
          <p:nvPr/>
        </p:nvSpPr>
        <p:spPr>
          <a:xfrm>
            <a:off x="571500" y="342423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543550" y="342423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71500" y="3890962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543550" y="389096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435768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543550" y="435768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71500" y="4824412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543550" y="482441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529113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543550" y="529113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LITERATURE SURVEY (LIMITATIONS)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381125" y="215265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Narrow Algorithm Comparison: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Lack of breadth in model testing.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381125" y="286702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 Over-Reliance: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Missing clinical sensitivity focus.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381125" y="358140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Preprocessing Variance: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Results vary due to inconsistent cleaning.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381125" y="429577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Lack of Cross-Validation: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risk of "lucky" split results.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381125" y="501015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Limited Discussion: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Minimal analysis on medical interpretability.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1859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9003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6147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3291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043487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RESEARCH GAP IDENTIFIED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76525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76525"/>
            <a:ext cx="35559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57250" y="3009900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The Baseline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57250" y="3486150"/>
            <a:ext cx="2984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Implementation of 5 ML algorithms (LR, KNN, DT, RF, SVM) under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unified testing framework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603700" y="3009900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Standardized Pipeline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603700" y="3486150"/>
            <a:ext cx="2984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Identical preprocessing, same dataset, same train-test split, and 10-fold cross-validation for all.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350150" y="3009900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Clinical Insight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350150" y="3486150"/>
            <a:ext cx="2984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Evaluation focused on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False Negative reduction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ensuring fairness, reliability, and transparency.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OUR RESEARCH CONTRIBUTION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48187"/>
            <a:ext cx="11049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5487"/>
            <a:ext cx="34924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1995487"/>
            <a:ext cx="2233017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8417" y="1995487"/>
            <a:ext cx="2233166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866775" y="4786312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Wisconsin Breast Cancer Dataset: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Features describe characteristics of cell nuclei from biopsies, with a binary target: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Malignant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Benign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52500" y="2376487"/>
            <a:ext cx="2730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569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3271837"/>
            <a:ext cx="273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Instances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730650" y="2376487"/>
            <a:ext cx="147101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730650" y="3271837"/>
            <a:ext cx="147101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Numerical Features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249417" y="2376487"/>
            <a:ext cx="1471166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249417" y="3271837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Missing Values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DATASET DESCRIPTION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247900"/>
            <a:ext cx="4905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1381125" y="286702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Overall classification correctness.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381125" y="32956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Recall (Sensitivity):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Key for detecting cancer cases.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381125" y="37242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Precision: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Accuracy of positive predictions.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381125" y="415290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F1-Score: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Harmonic mean of Precision and Recall.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381125" y="458152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ROC-AUC: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 distinguishing probability.</a:t>
            </a:r>
            <a:endParaRPr/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9003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3289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7576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862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61486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EVALUATION METRICS USED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43275"/>
            <a:ext cx="5286375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571500" y="25812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matrix tracks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True Positives (Correct Malignant)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True Negatives (Correct Benign)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and errors.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857250" y="3676650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Medical Importance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857250" y="4152900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Minimizing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False Negatives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our highest priority. A missed cancer case is more dangerous than a false alarm.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143750" y="3081337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TP → Malignant detected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7143750" y="3509962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TN → Benign confirmed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7143750" y="3938587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FP → Unnecessary Stress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143750" y="4367212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FN → Dangerous Miss</a:t>
            </a:r>
            <a:endParaRPr/>
          </a:p>
        </p:txBody>
      </p:sp>
      <p:pic>
        <p:nvPicPr>
          <p:cNvPr descr="image.png" id="240" name="Google Shape;2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31146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35433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97192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40055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CONFUSION MATRIX INTERPRETATION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p25"/>
          <p:cNvGraphicFramePr/>
          <p:nvPr/>
        </p:nvGraphicFramePr>
        <p:xfrm>
          <a:off x="571500" y="2195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{E2748CA5-5386-4540-AFC3-70BB1A502684}</a:tableStyleId>
              </a:tblPr>
              <a:tblGrid>
                <a:gridCol w="1647225"/>
                <a:gridCol w="5986450"/>
                <a:gridCol w="3415300"/>
              </a:tblGrid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Activity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Deliverable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</a:tr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Literature Review &amp; GAP Identification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Hypothesis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Preparation &amp; EDA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Normalized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Algorithm Implementation in 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Working Scripts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10-Fold Cross-Validation &amp; Tuning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Optimized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7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Comparative Result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Documentation &amp; Presentation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Handover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25"/>
          <p:cNvSpPr/>
          <p:nvPr/>
        </p:nvSpPr>
        <p:spPr>
          <a:xfrm>
            <a:off x="571500" y="3190875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218729" y="3190875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8205192" y="3190875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657600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218729" y="3657600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8205192" y="3657600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124325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2218729" y="4124325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8205192" y="4124325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591050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2218729" y="4591050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8205192" y="4591050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5057775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2218729" y="5057775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8205192" y="5057775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5524500"/>
            <a:ext cx="1647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2218729" y="5524500"/>
            <a:ext cx="5986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8205192" y="5524500"/>
            <a:ext cx="34153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PROJECT IMPLEMENTATION TIMELINE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 txBox="1"/>
          <p:nvPr/>
        </p:nvSpPr>
        <p:spPr>
          <a:xfrm>
            <a:off x="1381125" y="2938462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Fair Comparison: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Identical conditions for all models.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1381125" y="336708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Cross-validation ensures non-anomalous results.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381125" y="4081462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Reproducibility: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Standardized R pipeline.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381125" y="4510087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Clinical Value: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Medically meaningful metric focus.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9718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40042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1148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4543425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ADVANTAGES OF THE STUDY</a:t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819400"/>
            <a:ext cx="3555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19400"/>
            <a:ext cx="3555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857250" y="3152775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Data Scope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857250" y="3629025"/>
            <a:ext cx="298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Limited dataset size (569 samples) and lack of multi-center clinical data.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4603700" y="3152775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Model Scope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4603700" y="3629025"/>
            <a:ext cx="2984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Focused exclusively on classical ML; No Deep Learning or CNN architectures tested.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8350150" y="3152775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Real-World Gap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8350150" y="3629025"/>
            <a:ext cx="2984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Results have not been validated in a live hospital environment or clinical trial.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LIMITATIONS OF THE STUDY</a:t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/>
        </p:nvSpPr>
        <p:spPr>
          <a:xfrm>
            <a:off x="1381125" y="3081337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Apply Deep Learning (ANN, CNN) for image-based diagnostics.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1381125" y="3509962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 as a web-based prediction tool for clinical accessibility.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1381125" y="3938587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 Explainable AI (SHAP, LIME) for model transparency.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1381125" y="4367212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 rigorous statistical significance testing (T-tests/ANOVA).</a:t>
            </a:r>
            <a:endParaRPr/>
          </a:p>
        </p:txBody>
      </p:sp>
      <p:pic>
        <p:nvPicPr>
          <p:cNvPr descr="image.png"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1146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5433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97192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400550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this slide" id="318" name="Google Shape;31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-92925"/>
            <a:ext cx="12192000" cy="69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571500" y="26527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Machine Learning models are effectively capable of classifying breast cancer tumors with high precision.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571500" y="33670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standardized evaluation reveals that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 Vector Machines (SVM)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typically offer the most robust clinical reliability.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571500" y="43672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Consistency in preprocessing is vital for identifying AI-based tools that truly support early diagnosis.</a:t>
            </a:r>
            <a:endParaRPr/>
          </a:p>
        </p:txBody>
      </p:sp>
      <p:pic>
        <p:nvPicPr>
          <p:cNvPr descr="image.png" id="327" name="Google Shape;3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